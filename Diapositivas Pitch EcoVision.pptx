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Inter" panose="020B0604020202020204" charset="0"/>
      <p:regular r:id="rId9"/>
    </p:embeddedFont>
    <p:embeddedFont>
      <p:font typeface="Inter Bold" panose="020B0604020202020204" charset="0"/>
      <p:regular r:id="rId10"/>
    </p:embeddedFont>
    <p:embeddedFont>
      <p:font typeface="Inter Medium" panose="020B0604020202020204" charset="0"/>
      <p:regular r:id="rId11"/>
    </p:embeddedFont>
    <p:embeddedFont>
      <p:font typeface="Inter Semi-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>
            <a:off x="4134488" y="0"/>
            <a:ext cx="14153512" cy="10287000"/>
          </a:xfrm>
          <a:custGeom>
            <a:avLst/>
            <a:gdLst/>
            <a:ahLst/>
            <a:cxnLst/>
            <a:rect l="l" t="t" r="r" b="b"/>
            <a:pathLst>
              <a:path w="14153512" h="10287000">
                <a:moveTo>
                  <a:pt x="0" y="0"/>
                </a:moveTo>
                <a:lnTo>
                  <a:pt x="14153512" y="0"/>
                </a:lnTo>
                <a:lnTo>
                  <a:pt x="1415351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TextBox 4"/>
          <p:cNvSpPr txBox="1"/>
          <p:nvPr/>
        </p:nvSpPr>
        <p:spPr>
          <a:xfrm>
            <a:off x="589936" y="2523264"/>
            <a:ext cx="7979097" cy="1780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83"/>
              </a:lnSpc>
            </a:pPr>
            <a:r>
              <a:rPr lang="en-US" sz="13483" b="1" spc="-269">
                <a:solidFill>
                  <a:srgbClr val="79B54E"/>
                </a:solidFill>
                <a:latin typeface="Inter Bold"/>
                <a:ea typeface="Inter Bold"/>
                <a:cs typeface="Inter Bold"/>
                <a:sym typeface="Inter Bold"/>
              </a:rPr>
              <a:t>EcoVision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4285339"/>
            <a:ext cx="1323474" cy="437279"/>
          </a:xfrm>
          <a:custGeom>
            <a:avLst/>
            <a:gdLst/>
            <a:ahLst/>
            <a:cxnLst/>
            <a:rect l="l" t="t" r="r" b="b"/>
            <a:pathLst>
              <a:path w="1323474" h="437279">
                <a:moveTo>
                  <a:pt x="0" y="0"/>
                </a:moveTo>
                <a:lnTo>
                  <a:pt x="1323474" y="0"/>
                </a:lnTo>
                <a:lnTo>
                  <a:pt x="1323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6" name="TextBox 6"/>
          <p:cNvSpPr txBox="1"/>
          <p:nvPr/>
        </p:nvSpPr>
        <p:spPr>
          <a:xfrm>
            <a:off x="619026" y="4813760"/>
            <a:ext cx="7748975" cy="1136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45"/>
              </a:lnSpc>
              <a:spcBef>
                <a:spcPct val="0"/>
              </a:spcBef>
            </a:pPr>
            <a:r>
              <a:rPr lang="en-US" sz="3496" u="none" strike="noStrike" spc="-34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Clasificación inteligente de residuos reciclables con Visión Artificial Clásica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442" y="7700142"/>
            <a:ext cx="1283362" cy="36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104" b="1" spc="-20">
                <a:solidFill>
                  <a:srgbClr val="79B54E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Docente: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15379" y="7684363"/>
            <a:ext cx="4737928" cy="391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66"/>
              </a:lnSpc>
              <a:spcBef>
                <a:spcPct val="0"/>
              </a:spcBef>
            </a:pPr>
            <a:r>
              <a:rPr lang="en-US" sz="2244" u="none" strike="noStrike" spc="-21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Cristian Mateo Hernández González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15379" y="8242505"/>
            <a:ext cx="3684197" cy="391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66"/>
              </a:lnSpc>
              <a:spcBef>
                <a:spcPct val="0"/>
              </a:spcBef>
            </a:pPr>
            <a:r>
              <a:rPr lang="en-US" sz="2244" u="none" strike="noStrike" spc="-21" dirty="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Dorian Argel y Simón García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6513" y="8250249"/>
            <a:ext cx="1205458" cy="384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2197" b="1" spc="-21" dirty="0">
                <a:solidFill>
                  <a:srgbClr val="79B54E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Equipo: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1758134" cy="10287000"/>
          </a:xfrm>
          <a:custGeom>
            <a:avLst/>
            <a:gdLst/>
            <a:ahLst/>
            <a:cxnLst/>
            <a:rect l="l" t="t" r="r" b="b"/>
            <a:pathLst>
              <a:path w="11758134" h="10287000">
                <a:moveTo>
                  <a:pt x="0" y="0"/>
                </a:moveTo>
                <a:lnTo>
                  <a:pt x="11758134" y="0"/>
                </a:lnTo>
                <a:lnTo>
                  <a:pt x="1175813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Freeform 4"/>
          <p:cNvSpPr/>
          <p:nvPr/>
        </p:nvSpPr>
        <p:spPr>
          <a:xfrm>
            <a:off x="8268976" y="0"/>
            <a:ext cx="10019024" cy="10287000"/>
          </a:xfrm>
          <a:custGeom>
            <a:avLst/>
            <a:gdLst/>
            <a:ahLst/>
            <a:cxnLst/>
            <a:rect l="l" t="t" r="r" b="b"/>
            <a:pathLst>
              <a:path w="10019024" h="10287000">
                <a:moveTo>
                  <a:pt x="0" y="0"/>
                </a:moveTo>
                <a:lnTo>
                  <a:pt x="10019024" y="0"/>
                </a:lnTo>
                <a:lnTo>
                  <a:pt x="1001902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" name="TextBox 5"/>
          <p:cNvSpPr txBox="1"/>
          <p:nvPr/>
        </p:nvSpPr>
        <p:spPr>
          <a:xfrm>
            <a:off x="676627" y="651772"/>
            <a:ext cx="1988894" cy="324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sz="2036" b="1" spc="101">
                <a:solidFill>
                  <a:srgbClr val="72A65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EL PROBLEMA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2645" y="1267906"/>
            <a:ext cx="6387074" cy="212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8"/>
              </a:lnSpc>
            </a:pPr>
            <a:r>
              <a:rPr lang="en-US" sz="5568" b="1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La contaminación comienza con una mala separación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6516" y="3690308"/>
            <a:ext cx="7768828" cy="714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250" b="1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La clasificación incorrecta en el origen genera costos y contaminación en toda la cadena de reciclaje.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5272" y="4978356"/>
            <a:ext cx="2124338" cy="678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1"/>
              </a:lnSpc>
            </a:pPr>
            <a:r>
              <a:rPr lang="en-US" sz="5151" b="1">
                <a:solidFill>
                  <a:srgbClr val="72A650"/>
                </a:solidFill>
                <a:latin typeface="Inter Bold"/>
                <a:ea typeface="Inter Bold"/>
                <a:cs typeface="Inter Bold"/>
                <a:sym typeface="Inter Bold"/>
              </a:rPr>
              <a:t>27.6%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18880" y="4929075"/>
            <a:ext cx="3874528" cy="914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0"/>
              </a:lnSpc>
            </a:pPr>
            <a:r>
              <a:rPr lang="en-US" sz="1931" b="1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Tasa promedio de contaminación</a:t>
            </a:r>
          </a:p>
          <a:p>
            <a:pPr algn="l">
              <a:lnSpc>
                <a:spcPts val="2510"/>
              </a:lnSpc>
            </a:pPr>
            <a:r>
              <a:rPr lang="en-US" sz="1931" b="1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en programas de reciclaje</a:t>
            </a:r>
          </a:p>
          <a:p>
            <a:pPr algn="l">
              <a:lnSpc>
                <a:spcPts val="2510"/>
              </a:lnSpc>
            </a:pPr>
            <a:r>
              <a:rPr lang="en-US" sz="1931" b="1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de flujo único (EPA, 2022)</a:t>
            </a:r>
          </a:p>
        </p:txBody>
      </p:sp>
      <p:sp>
        <p:nvSpPr>
          <p:cNvPr id="10" name="Freeform 10"/>
          <p:cNvSpPr/>
          <p:nvPr/>
        </p:nvSpPr>
        <p:spPr>
          <a:xfrm>
            <a:off x="645330" y="5990729"/>
            <a:ext cx="7853340" cy="448211"/>
          </a:xfrm>
          <a:custGeom>
            <a:avLst/>
            <a:gdLst/>
            <a:ahLst/>
            <a:cxnLst/>
            <a:rect l="l" t="t" r="r" b="b"/>
            <a:pathLst>
              <a:path w="7853340" h="448211">
                <a:moveTo>
                  <a:pt x="0" y="0"/>
                </a:moveTo>
                <a:lnTo>
                  <a:pt x="7853340" y="0"/>
                </a:lnTo>
                <a:lnTo>
                  <a:pt x="785334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1" name="TextBox 11"/>
          <p:cNvSpPr txBox="1"/>
          <p:nvPr/>
        </p:nvSpPr>
        <p:spPr>
          <a:xfrm>
            <a:off x="679693" y="6604927"/>
            <a:ext cx="1682288" cy="678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1"/>
              </a:lnSpc>
            </a:pPr>
            <a:r>
              <a:rPr lang="en-US" sz="5151" b="1">
                <a:solidFill>
                  <a:srgbClr val="72A650"/>
                </a:solidFill>
                <a:latin typeface="Inter Bold"/>
                <a:ea typeface="Inter Bold"/>
                <a:cs typeface="Inter Bold"/>
                <a:sym typeface="Inter Bold"/>
              </a:rPr>
              <a:t>1,100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15938" y="6525524"/>
            <a:ext cx="4168742" cy="1217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0"/>
              </a:lnSpc>
            </a:pPr>
            <a:r>
              <a:rPr lang="en-US" sz="1931" b="1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Millones de dólares al año</a:t>
            </a:r>
          </a:p>
          <a:p>
            <a:pPr algn="l">
              <a:lnSpc>
                <a:spcPts val="2510"/>
              </a:lnSpc>
            </a:pPr>
            <a:r>
              <a:rPr lang="en-US" sz="1931" b="1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en costos de procesamiento y</a:t>
            </a:r>
          </a:p>
          <a:p>
            <a:pPr algn="l">
              <a:lnSpc>
                <a:spcPts val="2510"/>
              </a:lnSpc>
            </a:pPr>
            <a:r>
              <a:rPr lang="en-US" sz="1931" b="1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relleno sanitario por contaminación (EPA, 2022)</a:t>
            </a:r>
          </a:p>
        </p:txBody>
      </p:sp>
      <p:sp>
        <p:nvSpPr>
          <p:cNvPr id="13" name="Freeform 13"/>
          <p:cNvSpPr/>
          <p:nvPr/>
        </p:nvSpPr>
        <p:spPr>
          <a:xfrm>
            <a:off x="645330" y="7925691"/>
            <a:ext cx="7853340" cy="218640"/>
          </a:xfrm>
          <a:custGeom>
            <a:avLst/>
            <a:gdLst/>
            <a:ahLst/>
            <a:cxnLst/>
            <a:rect l="l" t="t" r="r" b="b"/>
            <a:pathLst>
              <a:path w="7853340" h="218640">
                <a:moveTo>
                  <a:pt x="0" y="0"/>
                </a:moveTo>
                <a:lnTo>
                  <a:pt x="7853340" y="0"/>
                </a:lnTo>
                <a:lnTo>
                  <a:pt x="785334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4" name="TextBox 14"/>
          <p:cNvSpPr txBox="1"/>
          <p:nvPr/>
        </p:nvSpPr>
        <p:spPr>
          <a:xfrm>
            <a:off x="668985" y="8502593"/>
            <a:ext cx="2753015" cy="678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1"/>
              </a:lnSpc>
            </a:pPr>
            <a:r>
              <a:rPr lang="en-US" sz="5151" b="1">
                <a:solidFill>
                  <a:srgbClr val="72A650"/>
                </a:solidFill>
                <a:latin typeface="Inter Bold"/>
                <a:ea typeface="Inter Bold"/>
                <a:cs typeface="Inter Bold"/>
                <a:sym typeface="Inter Bold"/>
              </a:rPr>
              <a:t>50 a 100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18950" y="8483433"/>
            <a:ext cx="3867508" cy="914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0"/>
              </a:lnSpc>
            </a:pPr>
            <a:r>
              <a:rPr lang="en-US" sz="1931" b="1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Dólares extra por tonelada</a:t>
            </a:r>
          </a:p>
          <a:p>
            <a:pPr algn="l">
              <a:lnSpc>
                <a:spcPts val="2510"/>
              </a:lnSpc>
            </a:pPr>
            <a:r>
              <a:rPr lang="en-US" sz="1931" b="1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en descontaminación en centros</a:t>
            </a:r>
          </a:p>
          <a:p>
            <a:pPr algn="l">
              <a:lnSpc>
                <a:spcPts val="2510"/>
              </a:lnSpc>
            </a:pPr>
            <a:r>
              <a:rPr lang="en-US" sz="1931" b="1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de recuperación (NAC, 2023)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2414402" cy="10287000"/>
          </a:xfrm>
          <a:custGeom>
            <a:avLst/>
            <a:gdLst/>
            <a:ahLst/>
            <a:cxnLst/>
            <a:rect l="l" t="t" r="r" b="b"/>
            <a:pathLst>
              <a:path w="12414402" h="10287000">
                <a:moveTo>
                  <a:pt x="0" y="0"/>
                </a:moveTo>
                <a:lnTo>
                  <a:pt x="12414402" y="0"/>
                </a:lnTo>
                <a:lnTo>
                  <a:pt x="124144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Freeform 4"/>
          <p:cNvSpPr/>
          <p:nvPr/>
        </p:nvSpPr>
        <p:spPr>
          <a:xfrm>
            <a:off x="10445598" y="0"/>
            <a:ext cx="7842402" cy="10287000"/>
          </a:xfrm>
          <a:custGeom>
            <a:avLst/>
            <a:gdLst/>
            <a:ahLst/>
            <a:cxnLst/>
            <a:rect l="l" t="t" r="r" b="b"/>
            <a:pathLst>
              <a:path w="7842402" h="10287000">
                <a:moveTo>
                  <a:pt x="0" y="0"/>
                </a:moveTo>
                <a:lnTo>
                  <a:pt x="7842402" y="0"/>
                </a:lnTo>
                <a:lnTo>
                  <a:pt x="78424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" name="TextBox 5"/>
          <p:cNvSpPr txBox="1"/>
          <p:nvPr/>
        </p:nvSpPr>
        <p:spPr>
          <a:xfrm>
            <a:off x="599155" y="709990"/>
            <a:ext cx="1699334" cy="312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1"/>
              </a:lnSpc>
            </a:pPr>
            <a:r>
              <a:rPr lang="en-US" sz="2009" b="1" spc="-19">
                <a:solidFill>
                  <a:srgbClr val="86B25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LA SOLUCIÓN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3661" y="1320256"/>
            <a:ext cx="9248741" cy="1373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5"/>
              </a:lnSpc>
            </a:pPr>
            <a:r>
              <a:rPr lang="en-US" sz="5078" b="1" spc="-49" dirty="0" err="1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Clasificación</a:t>
            </a:r>
            <a:r>
              <a:rPr lang="en-US" sz="5078" b="1" spc="-49" dirty="0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visual </a:t>
            </a:r>
            <a:r>
              <a:rPr lang="en-US" sz="5078" b="1" spc="-49" dirty="0" err="1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en</a:t>
            </a:r>
            <a:endParaRPr lang="en-US" sz="5078" b="1" spc="-49" dirty="0">
              <a:solidFill>
                <a:srgbClr val="F6F6F6"/>
              </a:solidFill>
              <a:latin typeface="Inter Semi-Bold"/>
              <a:ea typeface="Inter Semi-Bold"/>
              <a:cs typeface="Inter Semi-Bold"/>
              <a:sym typeface="Inter Semi-Bold"/>
            </a:endParaRPr>
          </a:p>
          <a:p>
            <a:pPr algn="l">
              <a:lnSpc>
                <a:spcPts val="5435"/>
              </a:lnSpc>
            </a:pPr>
            <a:r>
              <a:rPr lang="en-US" sz="5078" b="1" spc="-49" dirty="0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Tiempo Real.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5726" y="3048344"/>
            <a:ext cx="7042242" cy="81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44" b="1" spc="-24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Identifica al instante a qué categoría pertenece</a:t>
            </a:r>
          </a:p>
          <a:p>
            <a:pPr algn="l">
              <a:lnSpc>
                <a:spcPts val="3307"/>
              </a:lnSpc>
            </a:pPr>
            <a:r>
              <a:rPr lang="en-US" sz="2544" b="1" spc="-24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cada residuo.</a:t>
            </a:r>
          </a:p>
        </p:txBody>
      </p:sp>
      <p:sp>
        <p:nvSpPr>
          <p:cNvPr id="8" name="Freeform 8"/>
          <p:cNvSpPr/>
          <p:nvPr/>
        </p:nvSpPr>
        <p:spPr>
          <a:xfrm>
            <a:off x="426574" y="4285339"/>
            <a:ext cx="3500096" cy="2787657"/>
          </a:xfrm>
          <a:custGeom>
            <a:avLst/>
            <a:gdLst/>
            <a:ahLst/>
            <a:cxnLst/>
            <a:rect l="l" t="t" r="r" b="b"/>
            <a:pathLst>
              <a:path w="3500096" h="2787657">
                <a:moveTo>
                  <a:pt x="0" y="0"/>
                </a:moveTo>
                <a:lnTo>
                  <a:pt x="3500096" y="0"/>
                </a:lnTo>
                <a:lnTo>
                  <a:pt x="3500096" y="2787657"/>
                </a:lnTo>
                <a:lnTo>
                  <a:pt x="0" y="27876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9" name="Freeform 9"/>
          <p:cNvSpPr/>
          <p:nvPr/>
        </p:nvSpPr>
        <p:spPr>
          <a:xfrm>
            <a:off x="3696976" y="4285339"/>
            <a:ext cx="3489158" cy="2787657"/>
          </a:xfrm>
          <a:custGeom>
            <a:avLst/>
            <a:gdLst/>
            <a:ahLst/>
            <a:cxnLst/>
            <a:rect l="l" t="t" r="r" b="b"/>
            <a:pathLst>
              <a:path w="3489158" h="2787657">
                <a:moveTo>
                  <a:pt x="0" y="0"/>
                </a:moveTo>
                <a:lnTo>
                  <a:pt x="3489158" y="0"/>
                </a:lnTo>
                <a:lnTo>
                  <a:pt x="3489158" y="2787657"/>
                </a:lnTo>
                <a:lnTo>
                  <a:pt x="0" y="27876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" name="Freeform 10"/>
          <p:cNvSpPr/>
          <p:nvPr/>
        </p:nvSpPr>
        <p:spPr>
          <a:xfrm>
            <a:off x="6956440" y="4285339"/>
            <a:ext cx="3718852" cy="2787657"/>
          </a:xfrm>
          <a:custGeom>
            <a:avLst/>
            <a:gdLst/>
            <a:ahLst/>
            <a:cxnLst/>
            <a:rect l="l" t="t" r="r" b="b"/>
            <a:pathLst>
              <a:path w="3718852" h="2787657">
                <a:moveTo>
                  <a:pt x="0" y="0"/>
                </a:moveTo>
                <a:lnTo>
                  <a:pt x="3718852" y="0"/>
                </a:lnTo>
                <a:lnTo>
                  <a:pt x="3718852" y="2787657"/>
                </a:lnTo>
                <a:lnTo>
                  <a:pt x="0" y="27876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1" name="TextBox 11"/>
          <p:cNvSpPr txBox="1"/>
          <p:nvPr/>
        </p:nvSpPr>
        <p:spPr>
          <a:xfrm>
            <a:off x="1021248" y="4794867"/>
            <a:ext cx="2352525" cy="499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1"/>
              </a:lnSpc>
            </a:pPr>
            <a:r>
              <a:rPr lang="en-US" sz="1692" b="1" spc="-16">
                <a:solidFill>
                  <a:srgbClr val="86B25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EXTRACCIÓN</a:t>
            </a:r>
          </a:p>
          <a:p>
            <a:pPr algn="l">
              <a:lnSpc>
                <a:spcPts val="2031"/>
              </a:lnSpc>
            </a:pPr>
            <a:r>
              <a:rPr lang="en-US" sz="1692" b="1" spc="-16">
                <a:solidFill>
                  <a:srgbClr val="86B25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DE CARACTERÍSTICAS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8487" y="5587260"/>
            <a:ext cx="628688" cy="894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0"/>
              </a:lnSpc>
              <a:spcBef>
                <a:spcPct val="0"/>
              </a:spcBef>
            </a:pPr>
            <a:r>
              <a:rPr lang="en-US" sz="1673" b="1" u="none" strike="noStrike" spc="-16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HOG</a:t>
            </a:r>
          </a:p>
          <a:p>
            <a:pPr marL="0" lvl="0" indent="0" algn="l">
              <a:lnSpc>
                <a:spcPts val="2510"/>
              </a:lnSpc>
              <a:spcBef>
                <a:spcPct val="0"/>
              </a:spcBef>
            </a:pPr>
            <a:r>
              <a:rPr lang="en-US" sz="1673" b="1" u="none" strike="noStrike" spc="-16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LBP</a:t>
            </a:r>
          </a:p>
          <a:p>
            <a:pPr marL="0" lvl="0" indent="0" algn="l">
              <a:lnSpc>
                <a:spcPts val="2510"/>
              </a:lnSpc>
              <a:spcBef>
                <a:spcPct val="0"/>
              </a:spcBef>
            </a:pPr>
            <a:r>
              <a:rPr lang="en-US" sz="1673" b="1" u="none" strike="noStrike" spc="-16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GLCM</a:t>
            </a:r>
          </a:p>
        </p:txBody>
      </p:sp>
      <p:sp>
        <p:nvSpPr>
          <p:cNvPr id="13" name="Freeform 13"/>
          <p:cNvSpPr/>
          <p:nvPr/>
        </p:nvSpPr>
        <p:spPr>
          <a:xfrm>
            <a:off x="3478220" y="5564382"/>
            <a:ext cx="885962" cy="437279"/>
          </a:xfrm>
          <a:custGeom>
            <a:avLst/>
            <a:gdLst/>
            <a:ahLst/>
            <a:cxnLst/>
            <a:rect l="l" t="t" r="r" b="b"/>
            <a:pathLst>
              <a:path w="885962" h="437279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4" name="TextBox 14"/>
          <p:cNvSpPr txBox="1"/>
          <p:nvPr/>
        </p:nvSpPr>
        <p:spPr>
          <a:xfrm>
            <a:off x="4536324" y="5056436"/>
            <a:ext cx="1781613" cy="241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8"/>
              </a:lnSpc>
            </a:pPr>
            <a:r>
              <a:rPr lang="en-US" sz="1598" b="1" spc="-15">
                <a:solidFill>
                  <a:srgbClr val="86B25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NORMALIZACIÓN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45984" y="5533074"/>
            <a:ext cx="815647" cy="304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9"/>
              </a:lnSpc>
            </a:pPr>
            <a:r>
              <a:rPr lang="en-US" sz="1692" b="1" spc="-16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Z-score</a:t>
            </a:r>
          </a:p>
        </p:txBody>
      </p:sp>
      <p:sp>
        <p:nvSpPr>
          <p:cNvPr id="16" name="Freeform 16"/>
          <p:cNvSpPr/>
          <p:nvPr/>
        </p:nvSpPr>
        <p:spPr>
          <a:xfrm>
            <a:off x="6748622" y="5564382"/>
            <a:ext cx="875024" cy="437279"/>
          </a:xfrm>
          <a:custGeom>
            <a:avLst/>
            <a:gdLst/>
            <a:ahLst/>
            <a:cxnLst/>
            <a:rect l="l" t="t" r="r" b="b"/>
            <a:pathLst>
              <a:path w="875024" h="437279">
                <a:moveTo>
                  <a:pt x="0" y="0"/>
                </a:moveTo>
                <a:lnTo>
                  <a:pt x="875024" y="0"/>
                </a:lnTo>
                <a:lnTo>
                  <a:pt x="87502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7" name="TextBox 17"/>
          <p:cNvSpPr txBox="1"/>
          <p:nvPr/>
        </p:nvSpPr>
        <p:spPr>
          <a:xfrm>
            <a:off x="7805902" y="4846186"/>
            <a:ext cx="1650434" cy="249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1"/>
              </a:lnSpc>
            </a:pPr>
            <a:r>
              <a:rPr lang="en-US" sz="1692" b="1" spc="-16">
                <a:solidFill>
                  <a:srgbClr val="86B25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CLASIFICACIÓN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05676" y="5497437"/>
            <a:ext cx="1672982" cy="1004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1850" b="1" spc="-18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k-NN</a:t>
            </a:r>
          </a:p>
          <a:p>
            <a:pPr algn="l">
              <a:lnSpc>
                <a:spcPts val="2775"/>
              </a:lnSpc>
            </a:pPr>
            <a:r>
              <a:rPr lang="en-US" sz="1850" b="1" spc="-18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SVM</a:t>
            </a:r>
          </a:p>
          <a:p>
            <a:pPr algn="l">
              <a:lnSpc>
                <a:spcPts val="2775"/>
              </a:lnSpc>
            </a:pPr>
            <a:r>
              <a:rPr lang="en-US" sz="1850" b="1" spc="-18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Random Forest</a:t>
            </a:r>
          </a:p>
        </p:txBody>
      </p:sp>
      <p:sp>
        <p:nvSpPr>
          <p:cNvPr id="19" name="Freeform 19"/>
          <p:cNvSpPr/>
          <p:nvPr/>
        </p:nvSpPr>
        <p:spPr>
          <a:xfrm>
            <a:off x="426574" y="7499343"/>
            <a:ext cx="10029962" cy="218640"/>
          </a:xfrm>
          <a:custGeom>
            <a:avLst/>
            <a:gdLst/>
            <a:ahLst/>
            <a:cxnLst/>
            <a:rect l="l" t="t" r="r" b="b"/>
            <a:pathLst>
              <a:path w="10029962" h="218640">
                <a:moveTo>
                  <a:pt x="0" y="0"/>
                </a:moveTo>
                <a:lnTo>
                  <a:pt x="10029962" y="0"/>
                </a:lnTo>
                <a:lnTo>
                  <a:pt x="10029962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20" name="TextBox 20"/>
          <p:cNvSpPr txBox="1"/>
          <p:nvPr/>
        </p:nvSpPr>
        <p:spPr>
          <a:xfrm>
            <a:off x="609416" y="7748095"/>
            <a:ext cx="673249" cy="135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49"/>
              </a:lnSpc>
            </a:pPr>
            <a:r>
              <a:rPr lang="en-US" sz="9762" b="1" spc="-95">
                <a:solidFill>
                  <a:srgbClr val="86B25F"/>
                </a:solidFill>
                <a:latin typeface="Inter Bold"/>
                <a:ea typeface="Inter Bold"/>
                <a:cs typeface="Inter Bold"/>
                <a:sym typeface="Inter Bold"/>
              </a:rPr>
              <a:t>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3348" y="9068755"/>
            <a:ext cx="1838738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11"/>
              </a:lnSpc>
            </a:pPr>
            <a:r>
              <a:rPr lang="en-US" sz="2009" b="1" spc="-19" dirty="0">
                <a:solidFill>
                  <a:srgbClr val="86B25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CATEGORÍAS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612513" y="8017653"/>
            <a:ext cx="1675526" cy="1300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7"/>
              </a:lnSpc>
            </a:pPr>
            <a:r>
              <a:rPr lang="en-US" sz="2098" b="1" spc="-20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Cardboard</a:t>
            </a:r>
          </a:p>
          <a:p>
            <a:pPr algn="l">
              <a:lnSpc>
                <a:spcPts val="3567"/>
              </a:lnSpc>
            </a:pPr>
            <a:r>
              <a:rPr lang="en-US" sz="2098" b="1" spc="-20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Glass</a:t>
            </a:r>
          </a:p>
          <a:p>
            <a:pPr algn="l">
              <a:lnSpc>
                <a:spcPts val="3567"/>
              </a:lnSpc>
            </a:pPr>
            <a:r>
              <a:rPr lang="en-US" sz="2098" b="1" spc="-20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Metal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28568" y="8009545"/>
            <a:ext cx="1126274" cy="1307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143" b="1" spc="-20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Paper</a:t>
            </a:r>
          </a:p>
          <a:p>
            <a:pPr algn="l">
              <a:lnSpc>
                <a:spcPts val="3643"/>
              </a:lnSpc>
            </a:pPr>
            <a:r>
              <a:rPr lang="en-US" sz="2143" b="1" spc="-20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Plastic</a:t>
            </a:r>
          </a:p>
          <a:p>
            <a:pPr algn="l">
              <a:lnSpc>
                <a:spcPts val="3643"/>
              </a:lnSpc>
            </a:pPr>
            <a:r>
              <a:rPr lang="en-US" sz="2143" b="1" spc="-20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Trash</a:t>
            </a:r>
          </a:p>
        </p:txBody>
      </p:sp>
      <p:sp>
        <p:nvSpPr>
          <p:cNvPr id="24" name="Freeform 24"/>
          <p:cNvSpPr/>
          <p:nvPr/>
        </p:nvSpPr>
        <p:spPr>
          <a:xfrm>
            <a:off x="5654842" y="7925691"/>
            <a:ext cx="229694" cy="1727254"/>
          </a:xfrm>
          <a:custGeom>
            <a:avLst/>
            <a:gdLst/>
            <a:ahLst/>
            <a:cxnLst/>
            <a:rect l="l" t="t" r="r" b="b"/>
            <a:pathLst>
              <a:path w="229694" h="1727254">
                <a:moveTo>
                  <a:pt x="0" y="0"/>
                </a:moveTo>
                <a:lnTo>
                  <a:pt x="229694" y="0"/>
                </a:lnTo>
                <a:lnTo>
                  <a:pt x="22969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25" name="Freeform 25"/>
          <p:cNvSpPr/>
          <p:nvPr/>
        </p:nvSpPr>
        <p:spPr>
          <a:xfrm>
            <a:off x="6092354" y="8133399"/>
            <a:ext cx="1531292" cy="1300906"/>
          </a:xfrm>
          <a:custGeom>
            <a:avLst/>
            <a:gdLst/>
            <a:ahLst/>
            <a:cxnLst/>
            <a:rect l="l" t="t" r="r" b="b"/>
            <a:pathLst>
              <a:path w="1531292" h="1300906">
                <a:moveTo>
                  <a:pt x="0" y="0"/>
                </a:moveTo>
                <a:lnTo>
                  <a:pt x="1531292" y="0"/>
                </a:lnTo>
                <a:lnTo>
                  <a:pt x="153129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26" name="TextBox 26"/>
          <p:cNvSpPr txBox="1"/>
          <p:nvPr/>
        </p:nvSpPr>
        <p:spPr>
          <a:xfrm>
            <a:off x="7744073" y="8129449"/>
            <a:ext cx="2475502" cy="249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1"/>
              </a:lnSpc>
            </a:pPr>
            <a:r>
              <a:rPr lang="en-US" sz="1692" b="1" spc="-16" dirty="0">
                <a:solidFill>
                  <a:srgbClr val="86B25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SIN COSTOS ELEVADOS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740768" y="8623709"/>
            <a:ext cx="2704830" cy="1197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3"/>
              </a:lnSpc>
            </a:pPr>
            <a:r>
              <a:rPr lang="en-US" sz="1668" b="1" spc="-16" dirty="0" err="1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Funciona</a:t>
            </a:r>
            <a:r>
              <a:rPr lang="en-US" sz="1668" b="1" spc="-16" dirty="0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668" b="1" spc="-16" dirty="0" err="1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en</a:t>
            </a:r>
            <a:r>
              <a:rPr lang="en-US" sz="1668" b="1" spc="-16" dirty="0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 un </a:t>
            </a:r>
            <a:r>
              <a:rPr lang="en-US" sz="1668" b="1" spc="-16" dirty="0" err="1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computador</a:t>
            </a:r>
            <a:r>
              <a:rPr lang="en-US" sz="1668" b="1" spc="-16" dirty="0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668" b="1" spc="-16" dirty="0" err="1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estándar</a:t>
            </a:r>
            <a:r>
              <a:rPr lang="en-US" sz="1668" b="1" spc="-16" dirty="0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, sin GPU </a:t>
            </a:r>
            <a:r>
              <a:rPr lang="en-US" sz="1668" b="1" spc="-16" dirty="0" err="1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ni</a:t>
            </a:r>
            <a:r>
              <a:rPr lang="en-US" sz="1668" b="1" spc="-16" dirty="0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668" b="1" spc="-16" dirty="0" err="1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infraestructura</a:t>
            </a:r>
            <a:r>
              <a:rPr lang="en-US" sz="1668" b="1" spc="-16" dirty="0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668" b="1" spc="-16" dirty="0" err="1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costosa</a:t>
            </a:r>
            <a:r>
              <a:rPr lang="en-US" sz="1668" b="1" spc="-16" dirty="0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TextBox 3"/>
          <p:cNvSpPr txBox="1"/>
          <p:nvPr/>
        </p:nvSpPr>
        <p:spPr>
          <a:xfrm>
            <a:off x="636189" y="990627"/>
            <a:ext cx="8711524" cy="192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87"/>
              </a:lnSpc>
              <a:spcBef>
                <a:spcPct val="0"/>
              </a:spcBef>
            </a:pPr>
            <a:r>
              <a:rPr lang="en-US" sz="7294" b="1" u="none" strike="noStrike" spc="-167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Por qué fusionamos 3 descriptores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8853" y="3918552"/>
            <a:ext cx="1445127" cy="767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81"/>
              </a:lnSpc>
            </a:pPr>
            <a:r>
              <a:rPr lang="en-US" sz="5150" b="1" spc="-153">
                <a:solidFill>
                  <a:srgbClr val="72A350"/>
                </a:solidFill>
                <a:latin typeface="Inter Bold"/>
                <a:ea typeface="Inter Bold"/>
                <a:cs typeface="Inter Bold"/>
                <a:sym typeface="Inter Bold"/>
              </a:rPr>
              <a:t>HOG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42996" y="3729787"/>
            <a:ext cx="2343403" cy="1170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6"/>
              </a:lnSpc>
            </a:pPr>
            <a:r>
              <a:rPr lang="en-US" sz="2390" b="1" spc="-47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Captura la forma y el contorno del objeto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1437" y="5755974"/>
            <a:ext cx="1186766" cy="767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81"/>
              </a:lnSpc>
            </a:pPr>
            <a:r>
              <a:rPr lang="en-US" sz="5150" b="1" spc="-153">
                <a:solidFill>
                  <a:srgbClr val="72A350"/>
                </a:solidFill>
                <a:latin typeface="Inter Bold"/>
                <a:ea typeface="Inter Bold"/>
                <a:cs typeface="Inter Bold"/>
                <a:sym typeface="Inter Bold"/>
              </a:rPr>
              <a:t>LBP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32097" y="5747940"/>
            <a:ext cx="3433301" cy="77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6"/>
              </a:lnSpc>
            </a:pPr>
            <a:r>
              <a:rPr lang="en-US" sz="2390" b="1" spc="-47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Captura la micro-textura de la superficie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4254" y="7563275"/>
            <a:ext cx="1905089" cy="767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81"/>
              </a:lnSpc>
            </a:pPr>
            <a:r>
              <a:rPr lang="en-US" sz="5150" b="1" spc="-153">
                <a:solidFill>
                  <a:srgbClr val="72A350"/>
                </a:solidFill>
                <a:latin typeface="Inter Bold"/>
                <a:ea typeface="Inter Bold"/>
                <a:cs typeface="Inter Bold"/>
                <a:sym typeface="Inter Bold"/>
              </a:rPr>
              <a:t>GLCM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36180" y="7570302"/>
            <a:ext cx="3024967" cy="77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6"/>
              </a:lnSpc>
            </a:pPr>
            <a:r>
              <a:rPr lang="en-US" sz="2390" b="1" spc="-47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Captura la estadística global de textura</a:t>
            </a:r>
          </a:p>
        </p:txBody>
      </p:sp>
      <p:sp>
        <p:nvSpPr>
          <p:cNvPr id="10" name="Freeform 10"/>
          <p:cNvSpPr/>
          <p:nvPr/>
        </p:nvSpPr>
        <p:spPr>
          <a:xfrm>
            <a:off x="5217330" y="4066699"/>
            <a:ext cx="3926670" cy="2372241"/>
          </a:xfrm>
          <a:custGeom>
            <a:avLst/>
            <a:gdLst/>
            <a:ahLst/>
            <a:cxnLst/>
            <a:rect l="l" t="t" r="r" b="b"/>
            <a:pathLst>
              <a:path w="3926670" h="2372241">
                <a:moveTo>
                  <a:pt x="0" y="0"/>
                </a:moveTo>
                <a:lnTo>
                  <a:pt x="3926670" y="0"/>
                </a:lnTo>
                <a:lnTo>
                  <a:pt x="3926670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1" name="Freeform 11"/>
          <p:cNvSpPr/>
          <p:nvPr/>
        </p:nvSpPr>
        <p:spPr>
          <a:xfrm>
            <a:off x="6092354" y="5990729"/>
            <a:ext cx="3051646" cy="2153601"/>
          </a:xfrm>
          <a:custGeom>
            <a:avLst/>
            <a:gdLst/>
            <a:ahLst/>
            <a:cxnLst/>
            <a:rect l="l" t="t" r="r" b="b"/>
            <a:pathLst>
              <a:path w="3051646" h="2153601">
                <a:moveTo>
                  <a:pt x="0" y="0"/>
                </a:moveTo>
                <a:lnTo>
                  <a:pt x="3051646" y="0"/>
                </a:lnTo>
                <a:lnTo>
                  <a:pt x="3051646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2" name="TextBox 12"/>
          <p:cNvSpPr txBox="1"/>
          <p:nvPr/>
        </p:nvSpPr>
        <p:spPr>
          <a:xfrm>
            <a:off x="9304181" y="4771483"/>
            <a:ext cx="4520199" cy="561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94"/>
              </a:lnSpc>
            </a:pPr>
            <a:r>
              <a:rPr lang="en-US" sz="3828" b="1" spc="-114">
                <a:solidFill>
                  <a:srgbClr val="72A350"/>
                </a:solidFill>
                <a:latin typeface="Inter Bold"/>
                <a:ea typeface="Inter Bold"/>
                <a:cs typeface="Inter Bold"/>
                <a:sym typeface="Inter Bold"/>
              </a:rPr>
              <a:t>La fusión de los tres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06377" y="5364392"/>
            <a:ext cx="4300584" cy="1767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1"/>
              </a:lnSpc>
            </a:pPr>
            <a:r>
              <a:rPr lang="en-US" sz="3950" b="1" spc="-117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superó a cada uno por separado en nuestras pruebas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>
            <a:off x="10226842" y="0"/>
            <a:ext cx="8061158" cy="10287000"/>
          </a:xfrm>
          <a:custGeom>
            <a:avLst/>
            <a:gdLst/>
            <a:ahLst/>
            <a:cxnLst/>
            <a:rect l="l" t="t" r="r" b="b"/>
            <a:pathLst>
              <a:path w="8061158" h="10287000">
                <a:moveTo>
                  <a:pt x="0" y="0"/>
                </a:moveTo>
                <a:lnTo>
                  <a:pt x="8061158" y="0"/>
                </a:lnTo>
                <a:lnTo>
                  <a:pt x="806115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Freeform 4"/>
          <p:cNvSpPr/>
          <p:nvPr/>
        </p:nvSpPr>
        <p:spPr>
          <a:xfrm>
            <a:off x="8706488" y="0"/>
            <a:ext cx="5009512" cy="5793953"/>
          </a:xfrm>
          <a:custGeom>
            <a:avLst/>
            <a:gdLst/>
            <a:ahLst/>
            <a:cxnLst/>
            <a:rect l="l" t="t" r="r" b="b"/>
            <a:pathLst>
              <a:path w="5009512" h="5793953">
                <a:moveTo>
                  <a:pt x="0" y="0"/>
                </a:moveTo>
                <a:lnTo>
                  <a:pt x="5009512" y="0"/>
                </a:lnTo>
                <a:lnTo>
                  <a:pt x="5009512" y="5793953"/>
                </a:lnTo>
                <a:lnTo>
                  <a:pt x="0" y="57939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" name="Freeform 5"/>
          <p:cNvSpPr/>
          <p:nvPr/>
        </p:nvSpPr>
        <p:spPr>
          <a:xfrm>
            <a:off x="10008086" y="5356674"/>
            <a:ext cx="2843828" cy="4930326"/>
          </a:xfrm>
          <a:custGeom>
            <a:avLst/>
            <a:gdLst/>
            <a:ahLst/>
            <a:cxnLst/>
            <a:rect l="l" t="t" r="r" b="b"/>
            <a:pathLst>
              <a:path w="2843828" h="4930326">
                <a:moveTo>
                  <a:pt x="0" y="0"/>
                </a:moveTo>
                <a:lnTo>
                  <a:pt x="2843828" y="0"/>
                </a:lnTo>
                <a:lnTo>
                  <a:pt x="2843828" y="4930326"/>
                </a:lnTo>
                <a:lnTo>
                  <a:pt x="0" y="49303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6" name="TextBox 6"/>
          <p:cNvSpPr txBox="1"/>
          <p:nvPr/>
        </p:nvSpPr>
        <p:spPr>
          <a:xfrm>
            <a:off x="625355" y="1432190"/>
            <a:ext cx="7116110" cy="896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21"/>
              </a:lnSpc>
            </a:pPr>
            <a:r>
              <a:rPr lang="en-US" sz="6821" b="1" spc="-66">
                <a:solidFill>
                  <a:srgbClr val="F1F0F0"/>
                </a:solidFill>
                <a:latin typeface="Inter Bold"/>
                <a:ea typeface="Inter Bold"/>
                <a:cs typeface="Inter Bold"/>
                <a:sym typeface="Inter Bold"/>
              </a:rPr>
              <a:t>El Benchmarking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37718" y="2509705"/>
            <a:ext cx="5879806" cy="732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192" spc="-21">
                <a:solidFill>
                  <a:srgbClr val="F1F0F0"/>
                </a:solidFill>
                <a:latin typeface="Inter"/>
                <a:ea typeface="Inter"/>
                <a:cs typeface="Inter"/>
                <a:sym typeface="Inter"/>
              </a:rPr>
              <a:t>Probamos 12 combinaciones bajo las mismas condiciones para decidir con evidencia.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3059" y="4215040"/>
            <a:ext cx="1703453" cy="62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10"/>
              </a:lnSpc>
            </a:pPr>
            <a:r>
              <a:rPr lang="en-US" sz="4710" b="1" spc="-46">
                <a:solidFill>
                  <a:srgbClr val="76A851"/>
                </a:solidFill>
                <a:latin typeface="Inter Bold"/>
                <a:ea typeface="Inter Bold"/>
                <a:cs typeface="Inter Bold"/>
                <a:sym typeface="Inter Bold"/>
              </a:rPr>
              <a:t>0.507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31435" y="4228023"/>
            <a:ext cx="5105610" cy="706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23"/>
              </a:lnSpc>
              <a:spcBef>
                <a:spcPct val="0"/>
              </a:spcBef>
            </a:pPr>
            <a:r>
              <a:rPr lang="en-US" sz="1949" u="none" strike="noStrike" spc="-39">
                <a:solidFill>
                  <a:srgbClr val="F1F0F0"/>
                </a:solidFill>
                <a:latin typeface="Inter"/>
                <a:ea typeface="Inter"/>
                <a:cs typeface="Inter"/>
                <a:sym typeface="Inter"/>
              </a:rPr>
              <a:t>Fusión (HOG+LBP+GLCM) + SVM (RBF)</a:t>
            </a:r>
          </a:p>
          <a:p>
            <a:pPr marL="0" lvl="0" indent="0" algn="l">
              <a:lnSpc>
                <a:spcPts val="2923"/>
              </a:lnSpc>
              <a:spcBef>
                <a:spcPct val="0"/>
              </a:spcBef>
            </a:pPr>
            <a:r>
              <a:rPr lang="en-US" sz="1949" u="none" strike="noStrike" spc="-39">
                <a:solidFill>
                  <a:srgbClr val="F1F0F0"/>
                </a:solidFill>
                <a:latin typeface="Inter"/>
                <a:ea typeface="Inter"/>
                <a:cs typeface="Inter"/>
                <a:sym typeface="Inter"/>
              </a:rPr>
              <a:t>F1-Score ponderado</a:t>
            </a:r>
          </a:p>
        </p:txBody>
      </p:sp>
      <p:sp>
        <p:nvSpPr>
          <p:cNvPr id="10" name="Freeform 10"/>
          <p:cNvSpPr/>
          <p:nvPr/>
        </p:nvSpPr>
        <p:spPr>
          <a:xfrm>
            <a:off x="645330" y="5138034"/>
            <a:ext cx="8498670" cy="229572"/>
          </a:xfrm>
          <a:custGeom>
            <a:avLst/>
            <a:gdLst/>
            <a:ahLst/>
            <a:cxnLst/>
            <a:rect l="l" t="t" r="r" b="b"/>
            <a:pathLst>
              <a:path w="8498670" h="229572">
                <a:moveTo>
                  <a:pt x="0" y="0"/>
                </a:moveTo>
                <a:lnTo>
                  <a:pt x="8498670" y="0"/>
                </a:lnTo>
                <a:lnTo>
                  <a:pt x="849867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1" name="TextBox 11"/>
          <p:cNvSpPr txBox="1"/>
          <p:nvPr/>
        </p:nvSpPr>
        <p:spPr>
          <a:xfrm>
            <a:off x="734411" y="5615698"/>
            <a:ext cx="1568319" cy="62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10"/>
              </a:lnSpc>
            </a:pPr>
            <a:r>
              <a:rPr lang="en-US" sz="4710" b="1" spc="-46">
                <a:solidFill>
                  <a:srgbClr val="76A851"/>
                </a:solidFill>
                <a:latin typeface="Inter Bold"/>
                <a:ea typeface="Inter Bold"/>
                <a:cs typeface="Inter Bold"/>
                <a:sym typeface="Inter Bold"/>
              </a:rPr>
              <a:t>0.167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51593" y="5824472"/>
            <a:ext cx="2566495" cy="349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3"/>
              </a:lnSpc>
            </a:pPr>
            <a:r>
              <a:rPr lang="en-US" sz="1949" spc="-39">
                <a:solidFill>
                  <a:srgbClr val="F1F0F0"/>
                </a:solidFill>
                <a:latin typeface="Inter"/>
                <a:ea typeface="Inter"/>
                <a:cs typeface="Inter"/>
                <a:sym typeface="Inter"/>
              </a:rPr>
              <a:t>Esperado con 6 clases</a:t>
            </a:r>
          </a:p>
        </p:txBody>
      </p:sp>
      <p:sp>
        <p:nvSpPr>
          <p:cNvPr id="13" name="Freeform 13"/>
          <p:cNvSpPr/>
          <p:nvPr/>
        </p:nvSpPr>
        <p:spPr>
          <a:xfrm>
            <a:off x="645330" y="6428009"/>
            <a:ext cx="8498670" cy="218640"/>
          </a:xfrm>
          <a:custGeom>
            <a:avLst/>
            <a:gdLst/>
            <a:ahLst/>
            <a:cxnLst/>
            <a:rect l="l" t="t" r="r" b="b"/>
            <a:pathLst>
              <a:path w="8498670" h="218640">
                <a:moveTo>
                  <a:pt x="0" y="0"/>
                </a:moveTo>
                <a:lnTo>
                  <a:pt x="8498670" y="0"/>
                </a:lnTo>
                <a:lnTo>
                  <a:pt x="849867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4" name="TextBox 14"/>
          <p:cNvSpPr txBox="1"/>
          <p:nvPr/>
        </p:nvSpPr>
        <p:spPr>
          <a:xfrm>
            <a:off x="737586" y="7031417"/>
            <a:ext cx="1690360" cy="62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10"/>
              </a:lnSpc>
              <a:spcBef>
                <a:spcPct val="0"/>
              </a:spcBef>
            </a:pPr>
            <a:r>
              <a:rPr lang="en-US" sz="4710" b="1" u="none" strike="noStrike" spc="-46">
                <a:solidFill>
                  <a:srgbClr val="76A851"/>
                </a:solidFill>
                <a:latin typeface="Inter Bold"/>
                <a:ea typeface="Inter Bold"/>
                <a:cs typeface="Inter Bold"/>
                <a:sym typeface="Inter Bold"/>
              </a:rPr>
              <a:t>k-NN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36364" y="7089583"/>
            <a:ext cx="4089431" cy="706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3"/>
              </a:lnSpc>
            </a:pPr>
            <a:r>
              <a:rPr lang="en-US" sz="1949" spc="-39">
                <a:solidFill>
                  <a:srgbClr val="F1F0F0"/>
                </a:solidFill>
                <a:latin typeface="Inter"/>
                <a:ea typeface="Inter"/>
                <a:cs typeface="Inter"/>
                <a:sym typeface="Inter"/>
              </a:rPr>
              <a:t>Afectado por la alta dimensionalidad del vector fusionado</a:t>
            </a:r>
          </a:p>
        </p:txBody>
      </p:sp>
      <p:sp>
        <p:nvSpPr>
          <p:cNvPr id="16" name="Freeform 16"/>
          <p:cNvSpPr/>
          <p:nvPr/>
        </p:nvSpPr>
        <p:spPr>
          <a:xfrm>
            <a:off x="645330" y="7925691"/>
            <a:ext cx="8498670" cy="218640"/>
          </a:xfrm>
          <a:custGeom>
            <a:avLst/>
            <a:gdLst/>
            <a:ahLst/>
            <a:cxnLst/>
            <a:rect l="l" t="t" r="r" b="b"/>
            <a:pathLst>
              <a:path w="8498670" h="218640">
                <a:moveTo>
                  <a:pt x="0" y="0"/>
                </a:moveTo>
                <a:lnTo>
                  <a:pt x="8498670" y="0"/>
                </a:lnTo>
                <a:lnTo>
                  <a:pt x="849867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7" name="TextBox 17"/>
          <p:cNvSpPr txBox="1"/>
          <p:nvPr/>
        </p:nvSpPr>
        <p:spPr>
          <a:xfrm>
            <a:off x="735898" y="8642926"/>
            <a:ext cx="1419610" cy="579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4"/>
              </a:lnSpc>
            </a:pPr>
            <a:r>
              <a:rPr lang="en-US" sz="4394" b="1" spc="-42">
                <a:solidFill>
                  <a:srgbClr val="76A851"/>
                </a:solidFill>
                <a:latin typeface="Inter Bold"/>
                <a:ea typeface="Inter Bold"/>
                <a:cs typeface="Inter Bold"/>
                <a:sym typeface="Inter Bold"/>
              </a:rPr>
              <a:t>~80s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27947" y="8642927"/>
            <a:ext cx="985818" cy="62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10"/>
              </a:lnSpc>
            </a:pPr>
            <a:r>
              <a:rPr lang="en-US" sz="4710" b="1" spc="-46">
                <a:solidFill>
                  <a:srgbClr val="76A851"/>
                </a:solidFill>
                <a:latin typeface="Inter Bold"/>
                <a:ea typeface="Inter Bold"/>
                <a:cs typeface="Inter Bold"/>
                <a:sym typeface="Inter Bold"/>
              </a:rPr>
              <a:t>&lt;1s</a:t>
            </a:r>
          </a:p>
        </p:txBody>
      </p:sp>
      <p:sp>
        <p:nvSpPr>
          <p:cNvPr id="19" name="Freeform 19"/>
          <p:cNvSpPr/>
          <p:nvPr/>
        </p:nvSpPr>
        <p:spPr>
          <a:xfrm>
            <a:off x="2176622" y="8352038"/>
            <a:ext cx="218756" cy="1082267"/>
          </a:xfrm>
          <a:custGeom>
            <a:avLst/>
            <a:gdLst/>
            <a:ahLst/>
            <a:cxnLst/>
            <a:rect l="l" t="t" r="r" b="b"/>
            <a:pathLst>
              <a:path w="218756" h="1082267">
                <a:moveTo>
                  <a:pt x="0" y="0"/>
                </a:moveTo>
                <a:lnTo>
                  <a:pt x="218756" y="0"/>
                </a:lnTo>
                <a:lnTo>
                  <a:pt x="21875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20" name="TextBox 20"/>
          <p:cNvSpPr txBox="1"/>
          <p:nvPr/>
        </p:nvSpPr>
        <p:spPr>
          <a:xfrm>
            <a:off x="3736364" y="8641505"/>
            <a:ext cx="6599991" cy="1112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84"/>
              </a:lnSpc>
              <a:spcBef>
                <a:spcPct val="0"/>
              </a:spcBef>
            </a:pPr>
            <a:r>
              <a:rPr lang="en-US" sz="2056" u="none" strike="noStrike" spc="-41">
                <a:solidFill>
                  <a:srgbClr val="F1F0F0"/>
                </a:solidFill>
                <a:latin typeface="Inter"/>
                <a:ea typeface="Inter"/>
                <a:cs typeface="Inter"/>
                <a:sym typeface="Inter"/>
              </a:rPr>
              <a:t>SVM+Fusión es el más preciso pero el más lento (~80s)</a:t>
            </a:r>
          </a:p>
          <a:p>
            <a:pPr marL="0" lvl="0" indent="0" algn="l">
              <a:lnSpc>
                <a:spcPts val="3084"/>
              </a:lnSpc>
              <a:spcBef>
                <a:spcPct val="0"/>
              </a:spcBef>
            </a:pPr>
            <a:r>
              <a:rPr lang="en-US" sz="2056" u="none" strike="noStrike" spc="-41">
                <a:solidFill>
                  <a:srgbClr val="F1F0F0"/>
                </a:solidFill>
                <a:latin typeface="Inter"/>
                <a:ea typeface="Inter"/>
                <a:cs typeface="Inter"/>
                <a:sym typeface="Inter"/>
              </a:rPr>
              <a:t>Random Forest+HOG es una alternativa rápida (&lt;1s)</a:t>
            </a:r>
          </a:p>
          <a:p>
            <a:pPr marL="0" lvl="0" indent="0" algn="l">
              <a:lnSpc>
                <a:spcPts val="3084"/>
              </a:lnSpc>
              <a:spcBef>
                <a:spcPct val="0"/>
              </a:spcBef>
            </a:pPr>
            <a:r>
              <a:rPr lang="en-US" sz="2056" u="none" strike="noStrike" spc="-41">
                <a:solidFill>
                  <a:srgbClr val="F1F0F0"/>
                </a:solidFill>
                <a:latin typeface="Inter"/>
                <a:ea typeface="Inter"/>
                <a:cs typeface="Inter"/>
                <a:sym typeface="Inter"/>
              </a:rPr>
              <a:t>con buen desempeño (F1=0.443)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711258" y="5403497"/>
            <a:ext cx="6697266" cy="39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227" b="1" spc="-44">
                <a:solidFill>
                  <a:srgbClr val="76A851"/>
                </a:solidFill>
                <a:latin typeface="Inter Bold"/>
                <a:ea typeface="Inter Bold"/>
                <a:cs typeface="Inter Bold"/>
                <a:sym typeface="Inter Bold"/>
              </a:rPr>
              <a:t>Muy por encima del azar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751593" y="8182430"/>
            <a:ext cx="6697266" cy="39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227" b="1" spc="-44">
                <a:solidFill>
                  <a:srgbClr val="76A851"/>
                </a:solidFill>
                <a:latin typeface="Inter Bold"/>
                <a:ea typeface="Inter Bold"/>
                <a:cs typeface="Inter Bold"/>
                <a:sym typeface="Inter Bold"/>
              </a:rPr>
              <a:t>Trade-Off de Negocio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36364" y="3768948"/>
            <a:ext cx="6697266" cy="39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227" b="1" spc="-44">
                <a:solidFill>
                  <a:srgbClr val="76A851"/>
                </a:solidFill>
                <a:latin typeface="Inter Bold"/>
                <a:ea typeface="Inter Bold"/>
                <a:cs typeface="Inter Bold"/>
                <a:sym typeface="Inter Bold"/>
              </a:rPr>
              <a:t>Mejor desempeño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96516" y="631664"/>
            <a:ext cx="7313414" cy="39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41"/>
              </a:lnSpc>
              <a:spcBef>
                <a:spcPct val="0"/>
              </a:spcBef>
            </a:pPr>
            <a:r>
              <a:rPr lang="en-US" sz="2227" b="1" u="none" strike="noStrike" spc="44">
                <a:solidFill>
                  <a:srgbClr val="76A851"/>
                </a:solidFill>
                <a:latin typeface="Inter Bold"/>
                <a:ea typeface="Inter Bold"/>
                <a:cs typeface="Inter Bold"/>
                <a:sym typeface="Inter Bold"/>
              </a:rPr>
              <a:t>RESULTADOS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751593" y="6656173"/>
            <a:ext cx="6697266" cy="39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227" b="1" spc="-44">
                <a:solidFill>
                  <a:srgbClr val="76A851"/>
                </a:solidFill>
                <a:latin typeface="Inter Bold"/>
                <a:ea typeface="Inter Bold"/>
                <a:cs typeface="Inter Bold"/>
                <a:sym typeface="Inter Bold"/>
              </a:rPr>
              <a:t>El más débil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0018171" cy="10287000"/>
          </a:xfrm>
          <a:custGeom>
            <a:avLst/>
            <a:gdLst/>
            <a:ahLst/>
            <a:cxnLst/>
            <a:rect l="l" t="t" r="r" b="b"/>
            <a:pathLst>
              <a:path w="10018171" h="10287000">
                <a:moveTo>
                  <a:pt x="0" y="0"/>
                </a:moveTo>
                <a:lnTo>
                  <a:pt x="10018171" y="0"/>
                </a:lnTo>
                <a:lnTo>
                  <a:pt x="1001817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9551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Freeform 4" descr="Estacion inteligente de reciclaje con pantalla digital mostrando iconos, sin texto ilegible"/>
          <p:cNvSpPr/>
          <p:nvPr/>
        </p:nvSpPr>
        <p:spPr>
          <a:xfrm>
            <a:off x="8575189" y="0"/>
            <a:ext cx="9712811" cy="10287000"/>
          </a:xfrm>
          <a:custGeom>
            <a:avLst/>
            <a:gdLst/>
            <a:ahLst/>
            <a:cxnLst/>
            <a:rect l="l" t="t" r="r" b="b"/>
            <a:pathLst>
              <a:path w="9712811" h="10287000">
                <a:moveTo>
                  <a:pt x="0" y="0"/>
                </a:moveTo>
                <a:lnTo>
                  <a:pt x="9712811" y="0"/>
                </a:lnTo>
                <a:lnTo>
                  <a:pt x="971281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264" t="-16663" r="-1111" b="-16663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" name="TextBox 5"/>
          <p:cNvSpPr txBox="1"/>
          <p:nvPr/>
        </p:nvSpPr>
        <p:spPr>
          <a:xfrm>
            <a:off x="608120" y="1897764"/>
            <a:ext cx="7660856" cy="1354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0"/>
              </a:lnSpc>
            </a:pPr>
            <a:r>
              <a:rPr lang="en-US" sz="4961" b="1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Soluciones para clientes alcanzables desde hoy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4066699"/>
            <a:ext cx="229694" cy="1508614"/>
          </a:xfrm>
          <a:custGeom>
            <a:avLst/>
            <a:gdLst/>
            <a:ahLst/>
            <a:cxnLst/>
            <a:rect l="l" t="t" r="r" b="b"/>
            <a:pathLst>
              <a:path w="229694" h="1508614">
                <a:moveTo>
                  <a:pt x="0" y="0"/>
                </a:moveTo>
                <a:lnTo>
                  <a:pt x="229694" y="0"/>
                </a:lnTo>
                <a:lnTo>
                  <a:pt x="229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TextBox 7"/>
          <p:cNvSpPr txBox="1"/>
          <p:nvPr/>
        </p:nvSpPr>
        <p:spPr>
          <a:xfrm>
            <a:off x="1182608" y="4460741"/>
            <a:ext cx="4968884" cy="464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9"/>
              </a:lnSpc>
            </a:pPr>
            <a:r>
              <a:rPr lang="en-US" sz="3132" b="1">
                <a:solidFill>
                  <a:srgbClr val="679B46"/>
                </a:solidFill>
                <a:latin typeface="Inter Bold"/>
                <a:ea typeface="Inter Bold"/>
                <a:cs typeface="Inter Bold"/>
                <a:sym typeface="Inter Bold"/>
              </a:rPr>
              <a:t>CENTROS DE RECICLAJE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70293" y="4987871"/>
            <a:ext cx="6200350" cy="374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558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Y cooperativas de recicladores de oficio</a:t>
            </a:r>
          </a:p>
        </p:txBody>
      </p:sp>
      <p:sp>
        <p:nvSpPr>
          <p:cNvPr id="9" name="Freeform 9"/>
          <p:cNvSpPr/>
          <p:nvPr/>
        </p:nvSpPr>
        <p:spPr>
          <a:xfrm>
            <a:off x="645330" y="5783021"/>
            <a:ext cx="7634584" cy="218640"/>
          </a:xfrm>
          <a:custGeom>
            <a:avLst/>
            <a:gdLst/>
            <a:ahLst/>
            <a:cxnLst/>
            <a:rect l="l" t="t" r="r" b="b"/>
            <a:pathLst>
              <a:path w="7634584" h="218640">
                <a:moveTo>
                  <a:pt x="0" y="0"/>
                </a:moveTo>
                <a:lnTo>
                  <a:pt x="7634584" y="0"/>
                </a:lnTo>
                <a:lnTo>
                  <a:pt x="763458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" name="Freeform 10"/>
          <p:cNvSpPr/>
          <p:nvPr/>
        </p:nvSpPr>
        <p:spPr>
          <a:xfrm>
            <a:off x="645330" y="5990729"/>
            <a:ext cx="229694" cy="1519546"/>
          </a:xfrm>
          <a:custGeom>
            <a:avLst/>
            <a:gdLst/>
            <a:ahLst/>
            <a:cxnLst/>
            <a:rect l="l" t="t" r="r" b="b"/>
            <a:pathLst>
              <a:path w="229694" h="1519546">
                <a:moveTo>
                  <a:pt x="0" y="0"/>
                </a:moveTo>
                <a:lnTo>
                  <a:pt x="229694" y="0"/>
                </a:lnTo>
                <a:lnTo>
                  <a:pt x="22969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1" name="TextBox 11"/>
          <p:cNvSpPr txBox="1"/>
          <p:nvPr/>
        </p:nvSpPr>
        <p:spPr>
          <a:xfrm>
            <a:off x="1175512" y="6268042"/>
            <a:ext cx="5678525" cy="464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9"/>
              </a:lnSpc>
            </a:pPr>
            <a:r>
              <a:rPr lang="en-US" sz="3132" b="1">
                <a:solidFill>
                  <a:srgbClr val="679B46"/>
                </a:solidFill>
                <a:latin typeface="Inter Bold"/>
                <a:ea typeface="Inter Bold"/>
                <a:cs typeface="Inter Bold"/>
                <a:sym typeface="Inter Bold"/>
              </a:rPr>
              <a:t>ESTACIONES INTELIGENTES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56862" y="6795172"/>
            <a:ext cx="7543536" cy="7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558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Ubicadas en oficinas, universidades y centros comerciales</a:t>
            </a:r>
          </a:p>
        </p:txBody>
      </p:sp>
      <p:sp>
        <p:nvSpPr>
          <p:cNvPr id="13" name="Freeform 13"/>
          <p:cNvSpPr/>
          <p:nvPr/>
        </p:nvSpPr>
        <p:spPr>
          <a:xfrm>
            <a:off x="645330" y="7499343"/>
            <a:ext cx="7634584" cy="218640"/>
          </a:xfrm>
          <a:custGeom>
            <a:avLst/>
            <a:gdLst/>
            <a:ahLst/>
            <a:cxnLst/>
            <a:rect l="l" t="t" r="r" b="b"/>
            <a:pathLst>
              <a:path w="7634584" h="218640">
                <a:moveTo>
                  <a:pt x="0" y="0"/>
                </a:moveTo>
                <a:lnTo>
                  <a:pt x="7634584" y="0"/>
                </a:lnTo>
                <a:lnTo>
                  <a:pt x="763458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4" name="Freeform 14"/>
          <p:cNvSpPr/>
          <p:nvPr/>
        </p:nvSpPr>
        <p:spPr>
          <a:xfrm>
            <a:off x="645330" y="7925691"/>
            <a:ext cx="229694" cy="1508614"/>
          </a:xfrm>
          <a:custGeom>
            <a:avLst/>
            <a:gdLst/>
            <a:ahLst/>
            <a:cxnLst/>
            <a:rect l="l" t="t" r="r" b="b"/>
            <a:pathLst>
              <a:path w="229694" h="1508614">
                <a:moveTo>
                  <a:pt x="0" y="0"/>
                </a:moveTo>
                <a:lnTo>
                  <a:pt x="229694" y="0"/>
                </a:lnTo>
                <a:lnTo>
                  <a:pt x="229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5" name="TextBox 15"/>
          <p:cNvSpPr txBox="1"/>
          <p:nvPr/>
        </p:nvSpPr>
        <p:spPr>
          <a:xfrm>
            <a:off x="1176328" y="8120526"/>
            <a:ext cx="5596874" cy="464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9"/>
              </a:lnSpc>
            </a:pPr>
            <a:r>
              <a:rPr lang="en-US" sz="3132" b="1">
                <a:solidFill>
                  <a:srgbClr val="679B46"/>
                </a:solidFill>
                <a:latin typeface="Inter Bold"/>
                <a:ea typeface="Inter Bold"/>
                <a:cs typeface="Inter Bold"/>
                <a:sym typeface="Inter Bold"/>
              </a:rPr>
              <a:t>PROGRAMAS MUNICIPALES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0804" y="8662716"/>
            <a:ext cx="6149298" cy="374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558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Que impulsan la separación en la fuente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0177" y="1415798"/>
            <a:ext cx="9536906" cy="348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00"/>
              </a:lnSpc>
              <a:spcBef>
                <a:spcPct val="0"/>
              </a:spcBef>
            </a:pPr>
            <a:r>
              <a:rPr lang="en-US" sz="2250" b="1" u="none" strike="noStrike">
                <a:solidFill>
                  <a:srgbClr val="679B46"/>
                </a:solidFill>
                <a:latin typeface="Inter Bold"/>
                <a:ea typeface="Inter Bold"/>
                <a:cs typeface="Inter Bold"/>
                <a:sym typeface="Inter Bold"/>
              </a:rPr>
              <a:t>A QUIÉN SE LO VENDEMOS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TextBox 3"/>
          <p:cNvSpPr txBox="1"/>
          <p:nvPr/>
        </p:nvSpPr>
        <p:spPr>
          <a:xfrm>
            <a:off x="767604" y="939269"/>
            <a:ext cx="3606832" cy="31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05"/>
              </a:lnSpc>
              <a:spcBef>
                <a:spcPct val="0"/>
              </a:spcBef>
            </a:pPr>
            <a:r>
              <a:rPr lang="en-US" sz="2505" b="1" u="none" strike="noStrike" spc="24">
                <a:solidFill>
                  <a:srgbClr val="73965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POR QUÉ INVERTIR EN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6823" y="1521113"/>
            <a:ext cx="2648164" cy="1606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9"/>
              </a:lnSpc>
            </a:pPr>
            <a:r>
              <a:rPr lang="en-US" sz="12199" b="1" spc="-488">
                <a:solidFill>
                  <a:srgbClr val="FAFAFA"/>
                </a:solidFill>
                <a:latin typeface="Inter Bold"/>
                <a:ea typeface="Inter Bold"/>
                <a:cs typeface="Inter Bold"/>
                <a:sym typeface="Inter Bold"/>
              </a:rPr>
              <a:t>Eco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465084" y="1521113"/>
            <a:ext cx="4428275" cy="1606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9"/>
              </a:lnSpc>
            </a:pPr>
            <a:r>
              <a:rPr lang="en-US" sz="12199" b="1" spc="-488">
                <a:solidFill>
                  <a:srgbClr val="81A94A"/>
                </a:solidFill>
                <a:latin typeface="Inter Bold"/>
                <a:ea typeface="Inter Bold"/>
                <a:cs typeface="Inter Bold"/>
                <a:sym typeface="Inter Bold"/>
              </a:rPr>
              <a:t>Vision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3214004"/>
            <a:ext cx="7415828" cy="218640"/>
          </a:xfrm>
          <a:custGeom>
            <a:avLst/>
            <a:gdLst/>
            <a:ahLst/>
            <a:cxnLst/>
            <a:rect l="l" t="t" r="r" b="b"/>
            <a:pathLst>
              <a:path w="7415828" h="218640">
                <a:moveTo>
                  <a:pt x="0" y="0"/>
                </a:moveTo>
                <a:lnTo>
                  <a:pt x="7415828" y="0"/>
                </a:lnTo>
                <a:lnTo>
                  <a:pt x="741582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TextBox 7"/>
          <p:cNvSpPr txBox="1"/>
          <p:nvPr/>
        </p:nvSpPr>
        <p:spPr>
          <a:xfrm>
            <a:off x="741227" y="3844669"/>
            <a:ext cx="4080586" cy="414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8"/>
              </a:lnSpc>
            </a:pPr>
            <a:r>
              <a:rPr lang="en-US" sz="3128" b="1" spc="-62">
                <a:solidFill>
                  <a:srgbClr val="66C42B"/>
                </a:solidFill>
                <a:latin typeface="Inter Bold"/>
                <a:ea typeface="Inter Bold"/>
                <a:cs typeface="Inter Bold"/>
                <a:sym typeface="Inter Bold"/>
              </a:rPr>
              <a:t>Bajo costo de entrada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0300" y="4292598"/>
            <a:ext cx="8337182" cy="397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8" b="1" spc="-48">
                <a:solidFill>
                  <a:srgbClr val="D3D3D3"/>
                </a:solidFill>
                <a:latin typeface="Inter Medium"/>
                <a:ea typeface="Inter Medium"/>
                <a:cs typeface="Inter Medium"/>
                <a:sym typeface="Inter Medium"/>
              </a:rPr>
              <a:t>Sin GPU, corre en cualquier computador</a:t>
            </a:r>
          </a:p>
        </p:txBody>
      </p:sp>
      <p:sp>
        <p:nvSpPr>
          <p:cNvPr id="9" name="Freeform 9"/>
          <p:cNvSpPr/>
          <p:nvPr/>
        </p:nvSpPr>
        <p:spPr>
          <a:xfrm>
            <a:off x="645330" y="4919394"/>
            <a:ext cx="8717426" cy="229572"/>
          </a:xfrm>
          <a:custGeom>
            <a:avLst/>
            <a:gdLst/>
            <a:ahLst/>
            <a:cxnLst/>
            <a:rect l="l" t="t" r="r" b="b"/>
            <a:pathLst>
              <a:path w="8717426" h="229572">
                <a:moveTo>
                  <a:pt x="0" y="0"/>
                </a:moveTo>
                <a:lnTo>
                  <a:pt x="8717426" y="0"/>
                </a:lnTo>
                <a:lnTo>
                  <a:pt x="871742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" name="TextBox 10"/>
          <p:cNvSpPr txBox="1"/>
          <p:nvPr/>
        </p:nvSpPr>
        <p:spPr>
          <a:xfrm>
            <a:off x="741227" y="5240902"/>
            <a:ext cx="6244502" cy="414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8"/>
              </a:lnSpc>
            </a:pPr>
            <a:r>
              <a:rPr lang="en-US" sz="3128" b="1" spc="-62">
                <a:solidFill>
                  <a:srgbClr val="66C42B"/>
                </a:solidFill>
                <a:latin typeface="Inter Bold"/>
                <a:ea typeface="Inter Bold"/>
                <a:cs typeface="Inter Bold"/>
                <a:sym typeface="Inter Bold"/>
              </a:rPr>
              <a:t>Decisiones basadas en evidencia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0013" y="5663071"/>
            <a:ext cx="6365932" cy="774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3"/>
              </a:lnSpc>
            </a:pPr>
            <a:r>
              <a:rPr lang="en-US" sz="2302" b="1" spc="-46">
                <a:solidFill>
                  <a:srgbClr val="D3D3D3"/>
                </a:solidFill>
                <a:latin typeface="Inter Medium"/>
                <a:ea typeface="Inter Medium"/>
                <a:cs typeface="Inter Medium"/>
                <a:sym typeface="Inter Medium"/>
              </a:rPr>
              <a:t>12 combinaciones evaluadas y comparadas, no una suposición</a:t>
            </a:r>
          </a:p>
        </p:txBody>
      </p:sp>
      <p:sp>
        <p:nvSpPr>
          <p:cNvPr id="12" name="Freeform 12"/>
          <p:cNvSpPr/>
          <p:nvPr/>
        </p:nvSpPr>
        <p:spPr>
          <a:xfrm>
            <a:off x="645330" y="6635716"/>
            <a:ext cx="8717426" cy="229572"/>
          </a:xfrm>
          <a:custGeom>
            <a:avLst/>
            <a:gdLst/>
            <a:ahLst/>
            <a:cxnLst/>
            <a:rect l="l" t="t" r="r" b="b"/>
            <a:pathLst>
              <a:path w="8717426" h="229572">
                <a:moveTo>
                  <a:pt x="0" y="0"/>
                </a:moveTo>
                <a:lnTo>
                  <a:pt x="8717426" y="0"/>
                </a:lnTo>
                <a:lnTo>
                  <a:pt x="871742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3" name="TextBox 13"/>
          <p:cNvSpPr txBox="1"/>
          <p:nvPr/>
        </p:nvSpPr>
        <p:spPr>
          <a:xfrm>
            <a:off x="760229" y="7048203"/>
            <a:ext cx="4344304" cy="414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8"/>
              </a:lnSpc>
            </a:pPr>
            <a:r>
              <a:rPr lang="en-US" sz="3128" b="1" spc="-62">
                <a:solidFill>
                  <a:srgbClr val="739652"/>
                </a:solidFill>
                <a:latin typeface="Inter Bold"/>
                <a:ea typeface="Inter Bold"/>
                <a:cs typeface="Inter Bold"/>
                <a:sym typeface="Inter Bold"/>
              </a:rPr>
              <a:t>Atacamos la causa raíz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8269" y="7470436"/>
            <a:ext cx="4764553" cy="397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8" b="1" spc="-48">
                <a:solidFill>
                  <a:srgbClr val="D3D3D3"/>
                </a:solidFill>
                <a:latin typeface="Inter Medium"/>
                <a:ea typeface="Inter Medium"/>
                <a:cs typeface="Inter Medium"/>
                <a:sym typeface="Inter Medium"/>
              </a:rPr>
              <a:t>La mala clasificación en el origen</a:t>
            </a:r>
          </a:p>
        </p:txBody>
      </p:sp>
      <p:sp>
        <p:nvSpPr>
          <p:cNvPr id="15" name="Freeform 15"/>
          <p:cNvSpPr/>
          <p:nvPr/>
        </p:nvSpPr>
        <p:spPr>
          <a:xfrm>
            <a:off x="645330" y="8133399"/>
            <a:ext cx="8717426" cy="229572"/>
          </a:xfrm>
          <a:custGeom>
            <a:avLst/>
            <a:gdLst/>
            <a:ahLst/>
            <a:cxnLst/>
            <a:rect l="l" t="t" r="r" b="b"/>
            <a:pathLst>
              <a:path w="8717426" h="229572">
                <a:moveTo>
                  <a:pt x="0" y="0"/>
                </a:moveTo>
                <a:lnTo>
                  <a:pt x="8717426" y="0"/>
                </a:lnTo>
                <a:lnTo>
                  <a:pt x="871742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6" name="TextBox 16"/>
          <p:cNvSpPr txBox="1"/>
          <p:nvPr/>
        </p:nvSpPr>
        <p:spPr>
          <a:xfrm>
            <a:off x="762719" y="8509104"/>
            <a:ext cx="4095270" cy="414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8"/>
              </a:lnSpc>
            </a:pPr>
            <a:r>
              <a:rPr lang="en-US" sz="3128" b="1" spc="-62">
                <a:solidFill>
                  <a:srgbClr val="66C42B"/>
                </a:solidFill>
                <a:latin typeface="Inter Bold"/>
                <a:ea typeface="Inter Bold"/>
                <a:cs typeface="Inter Bold"/>
                <a:sym typeface="Inter Bold"/>
              </a:rPr>
              <a:t>Escalable y adaptable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8000" y="8916276"/>
            <a:ext cx="6567222" cy="397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8" b="1" spc="-48">
                <a:solidFill>
                  <a:srgbClr val="D3D3D3"/>
                </a:solidFill>
                <a:latin typeface="Inter Medium"/>
                <a:ea typeface="Inter Medium"/>
                <a:cs typeface="Inter Medium"/>
                <a:sym typeface="Inter Medium"/>
              </a:rPr>
              <a:t>A otros tipos de residuo o líneas de producción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385</Words>
  <Application>Microsoft Office PowerPoint</Application>
  <PresentationFormat>Custom</PresentationFormat>
  <Paragraphs>94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Inter Semi-Bold</vt:lpstr>
      <vt:lpstr>Arial</vt:lpstr>
      <vt:lpstr>Inter</vt:lpstr>
      <vt:lpstr>Inter Bold</vt:lpstr>
      <vt:lpstr>Calibri</vt:lpstr>
      <vt:lpstr>Inter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EcoVision</dc:title>
  <cp:lastModifiedBy>Dorian Yesith Argel Palacios</cp:lastModifiedBy>
  <cp:revision>2</cp:revision>
  <dcterms:created xsi:type="dcterms:W3CDTF">2006-08-16T00:00:00Z</dcterms:created>
  <dcterms:modified xsi:type="dcterms:W3CDTF">2026-10-31T00:47:26Z</dcterms:modified>
  <dc:identifier>DAHZiPO0RjA</dc:identifier>
</cp:coreProperties>
</file>